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30279975" cy="42808525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3">
          <p15:clr>
            <a:srgbClr val="A4A3A4"/>
          </p15:clr>
        </p15:guide>
        <p15:guide id="2" pos="993">
          <p15:clr>
            <a:srgbClr val="A4A3A4"/>
          </p15:clr>
        </p15:guide>
        <p15:guide id="3" pos="18081">
          <p15:clr>
            <a:srgbClr val="A4A3A4"/>
          </p15:clr>
        </p15:guide>
        <p15:guide id="4" pos="96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D7E7"/>
    <a:srgbClr val="4D4D4D"/>
    <a:srgbClr val="777777"/>
    <a:srgbClr val="5F5F5F"/>
    <a:srgbClr val="72727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9045" autoAdjust="0"/>
    <p:restoredTop sz="94618" autoAdjust="0"/>
  </p:normalViewPr>
  <p:slideViewPr>
    <p:cSldViewPr snapToGrid="0">
      <p:cViewPr>
        <p:scale>
          <a:sx n="33" d="100"/>
          <a:sy n="33" d="100"/>
        </p:scale>
        <p:origin x="320" y="-5876"/>
      </p:cViewPr>
      <p:guideLst>
        <p:guide orient="horz" pos="2443"/>
        <p:guide pos="993"/>
        <p:guide pos="18081"/>
        <p:guide pos="96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6" tIns="49518" rIns="99036" bIns="49518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de-DE" alt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6" tIns="49518" rIns="99036" bIns="49518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de-DE" altLang="de-DE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92338" y="768350"/>
            <a:ext cx="27146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6" tIns="49518" rIns="99036" bIns="495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6" tIns="49518" rIns="99036" bIns="49518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de-DE" alt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6" tIns="49518" rIns="99036" bIns="49518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AE3A2D3A-F7AE-49A0-BB73-09EAEA11F6BA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38976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71713" y="13298488"/>
            <a:ext cx="25736550" cy="917575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541838" y="24258588"/>
            <a:ext cx="21196300" cy="1093946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8233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3950" y="7624330"/>
            <a:ext cx="25563512" cy="2880591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111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2363" y="27508200"/>
            <a:ext cx="25738137" cy="85026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392363" y="18143538"/>
            <a:ext cx="25738137" cy="93646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4261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393950" y="11969750"/>
            <a:ext cx="12742863" cy="6049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289213" y="11969750"/>
            <a:ext cx="12742862" cy="6049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265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4475" y="6477000"/>
            <a:ext cx="27251025" cy="454342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14475" y="11322050"/>
            <a:ext cx="13377863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14475" y="15316200"/>
            <a:ext cx="13377863" cy="22923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15381288" y="11322050"/>
            <a:ext cx="13384212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15381288" y="15316200"/>
            <a:ext cx="13384212" cy="229235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1852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2363" y="7433830"/>
            <a:ext cx="25563512" cy="2880591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8452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21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4474" y="5929312"/>
            <a:ext cx="9961563" cy="72532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837988" y="1704975"/>
            <a:ext cx="16927512" cy="365347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14475" y="13182600"/>
            <a:ext cx="9961563" cy="2505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5268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35663" y="31275338"/>
            <a:ext cx="18167350" cy="3538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935663" y="6781800"/>
            <a:ext cx="18167350" cy="243760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935663" y="34913888"/>
            <a:ext cx="18167350" cy="5022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141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1853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1966238" y="8445500"/>
            <a:ext cx="6408737" cy="13320713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544763" y="8432800"/>
            <a:ext cx="19078575" cy="13320713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7958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2363" y="6671830"/>
            <a:ext cx="25563512" cy="288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de-DE" altLang="de-DE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3950" y="11969750"/>
            <a:ext cx="25638125" cy="604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Aufzählungspunkt 1</a:t>
            </a:r>
          </a:p>
          <a:p>
            <a:pPr lvl="1"/>
            <a:r>
              <a:rPr lang="de-DE" altLang="de-DE"/>
              <a:t>Aufzählungspunkt 2</a:t>
            </a:r>
          </a:p>
          <a:p>
            <a:pPr lvl="2"/>
            <a:r>
              <a:rPr lang="de-DE" altLang="de-DE"/>
              <a:t>Aufzählungspunkt 3</a:t>
            </a:r>
          </a:p>
          <a:p>
            <a:pPr lvl="3"/>
            <a:r>
              <a:rPr lang="de-DE" altLang="de-DE"/>
              <a:t>Aufzählungspunkt 4</a:t>
            </a:r>
          </a:p>
          <a:p>
            <a:pPr lvl="4"/>
            <a:r>
              <a:rPr lang="de-DE" altLang="de-DE"/>
              <a:t>Aufzählungspunkt 5</a:t>
            </a:r>
          </a:p>
          <a:p>
            <a:pPr lvl="4"/>
            <a:r>
              <a:rPr lang="de-DE" altLang="de-DE"/>
              <a:t>Aufzählungspunkt 6</a:t>
            </a:r>
          </a:p>
          <a:p>
            <a:pPr lvl="0"/>
            <a:r>
              <a:rPr lang="de-DE" altLang="de-DE"/>
              <a:t>Aufzählungspunkt 7</a:t>
            </a:r>
          </a:p>
          <a:p>
            <a:pPr lvl="0"/>
            <a:r>
              <a:rPr lang="de-DE" altLang="de-DE"/>
              <a:t>Aufzählungspunkt 8</a:t>
            </a:r>
          </a:p>
          <a:p>
            <a:pPr lvl="0"/>
            <a:endParaRPr lang="de-DE" altLang="de-DE"/>
          </a:p>
        </p:txBody>
      </p:sp>
      <p:sp>
        <p:nvSpPr>
          <p:cNvPr id="1052" name="Text Box 28"/>
          <p:cNvSpPr txBox="1">
            <a:spLocks noChangeArrowheads="1"/>
          </p:cNvSpPr>
          <p:nvPr/>
        </p:nvSpPr>
        <p:spPr bwMode="auto">
          <a:xfrm>
            <a:off x="638477" y="41659324"/>
            <a:ext cx="144589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altLang="de-DE" sz="3300"/>
              <a:t>KIT – The Research University in the Helmholtz Association</a:t>
            </a:r>
            <a:endParaRPr lang="de-DE" altLang="de-DE" sz="3300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9725" y="40989250"/>
            <a:ext cx="5810250" cy="18192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F4E0A34-E203-4B16-80A2-61C886DED8F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15" y="860729"/>
            <a:ext cx="6853213" cy="245237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92801AF-6A2D-43D2-A475-2B1DA5CD5D4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9047" y="862206"/>
            <a:ext cx="6853213" cy="245089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6F13B92-5F6D-4F93-9A9A-4906ACCA0040}"/>
              </a:ext>
            </a:extLst>
          </p:cNvPr>
          <p:cNvSpPr txBox="1"/>
          <p:nvPr userDrawn="1"/>
        </p:nvSpPr>
        <p:spPr>
          <a:xfrm>
            <a:off x="8725815" y="758557"/>
            <a:ext cx="128966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b="1" dirty="0"/>
              <a:t>Karlsruhe Institute </a:t>
            </a:r>
            <a:r>
              <a:rPr lang="de-DE" b="1" dirty="0" err="1"/>
              <a:t>of</a:t>
            </a:r>
            <a:r>
              <a:rPr lang="de-DE" b="1" dirty="0"/>
              <a:t> Technology</a:t>
            </a:r>
          </a:p>
          <a:p>
            <a:pPr algn="r"/>
            <a:r>
              <a:rPr lang="de-DE" b="1" dirty="0"/>
              <a:t>Institute </a:t>
            </a:r>
            <a:r>
              <a:rPr lang="de-DE" b="1" dirty="0" err="1"/>
              <a:t>of</a:t>
            </a:r>
            <a:r>
              <a:rPr lang="de-DE" b="1" dirty="0"/>
              <a:t> Control Systems</a:t>
            </a:r>
          </a:p>
          <a:p>
            <a:pPr algn="r"/>
            <a:r>
              <a:rPr lang="de-DE" dirty="0"/>
              <a:t>Chair </a:t>
            </a:r>
            <a:r>
              <a:rPr lang="de-DE" dirty="0" err="1"/>
              <a:t>for</a:t>
            </a:r>
            <a:r>
              <a:rPr lang="de-DE" dirty="0"/>
              <a:t> Secure </a:t>
            </a:r>
            <a:r>
              <a:rPr lang="de-DE" dirty="0" err="1"/>
              <a:t>Interconnected</a:t>
            </a:r>
            <a:r>
              <a:rPr lang="de-DE" dirty="0"/>
              <a:t> Automation Technology</a:t>
            </a:r>
          </a:p>
          <a:p>
            <a:pPr algn="r"/>
            <a:r>
              <a:rPr lang="de-DE" dirty="0"/>
              <a:t>Univ.-Prof. Dr.-Ing. Mike Barth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2pPr>
      <a:lvl3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3pPr>
      <a:lvl4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4pPr>
      <a:lvl5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5pPr>
      <a:lvl6pPr marL="4572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6pPr>
      <a:lvl7pPr marL="9144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7pPr>
      <a:lvl8pPr marL="13716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8pPr>
      <a:lvl9pPr marL="18288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9pPr>
    </p:titleStyle>
    <p:bodyStyle>
      <a:lvl1pPr marL="609600" indent="-609600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rgbClr val="000000"/>
          </a:solidFill>
          <a:latin typeface="+mn-lt"/>
          <a:ea typeface="+mn-ea"/>
          <a:cs typeface="+mn-cs"/>
        </a:defRPr>
      </a:lvl1pPr>
      <a:lvl2pPr marL="1447800" indent="-6588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2pPr>
      <a:lvl3pPr marL="22479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3pPr>
      <a:lvl4pPr marL="30480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4pPr>
      <a:lvl5pPr marL="38481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5pPr>
      <a:lvl6pPr marL="43053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6pPr>
      <a:lvl7pPr marL="47625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7pPr>
      <a:lvl8pPr marL="52197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8pPr>
      <a:lvl9pPr marL="56769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4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/>
          <p:cNvSpPr txBox="1"/>
          <p:nvPr/>
        </p:nvSpPr>
        <p:spPr>
          <a:xfrm>
            <a:off x="1511999" y="4845288"/>
            <a:ext cx="25958101" cy="2554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b="1" dirty="0"/>
              <a:t>Überschrift – Thema, Arial fett, 80 </a:t>
            </a:r>
            <a:r>
              <a:rPr lang="de-DE" sz="8000" b="1" dirty="0" err="1"/>
              <a:t>pt</a:t>
            </a:r>
            <a:endParaRPr lang="de-DE" sz="8000" b="1" dirty="0"/>
          </a:p>
          <a:p>
            <a:r>
              <a:rPr lang="de-DE" sz="8000" b="1" dirty="0"/>
              <a:t>Schwarz oder KIT-Grün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511999" y="7647484"/>
            <a:ext cx="267582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dirty="0"/>
              <a:t>Unterüberschrift: Arial, Regular, 50 </a:t>
            </a:r>
            <a:r>
              <a:rPr lang="de-DE" sz="5000" dirty="0" err="1"/>
              <a:t>pt</a:t>
            </a:r>
            <a:r>
              <a:rPr lang="de-DE" sz="5000" dirty="0"/>
              <a:t>, Schwarz oder Grau (70% Schwarz)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1511999" y="8585458"/>
            <a:ext cx="267582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dirty="0"/>
              <a:t>Autor: Arial, Regular, 50 </a:t>
            </a:r>
            <a:r>
              <a:rPr lang="de-DE" sz="5000" dirty="0" err="1"/>
              <a:t>pt</a:t>
            </a:r>
            <a:r>
              <a:rPr lang="de-DE" sz="5000" dirty="0"/>
              <a:t>, Schwarz oder Grau (70% Schwarz)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FFF5B21-4798-46E9-9CD3-3A441249CB95}"/>
              </a:ext>
            </a:extLst>
          </p:cNvPr>
          <p:cNvSpPr txBox="1"/>
          <p:nvPr/>
        </p:nvSpPr>
        <p:spPr>
          <a:xfrm>
            <a:off x="19255421" y="38182677"/>
            <a:ext cx="9217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Institut für Regelungs- und Steuerungstechnik</a:t>
            </a:r>
          </a:p>
          <a:p>
            <a:r>
              <a:rPr lang="de-DE" sz="3200" dirty="0"/>
              <a:t>Fritz-Haber-Weg 1</a:t>
            </a:r>
            <a:r>
              <a:rPr lang="de-DE" sz="3200"/>
              <a:t>, 76131 Karlsruhe</a:t>
            </a:r>
            <a:endParaRPr lang="de-DE" sz="3200" dirty="0"/>
          </a:p>
          <a:p>
            <a:r>
              <a:rPr lang="de-DE" sz="3200" dirty="0"/>
              <a:t>Geb. 30.33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B3DF738-51D5-4476-A233-7584BA78B4F3}"/>
              </a:ext>
            </a:extLst>
          </p:cNvPr>
          <p:cNvSpPr txBox="1"/>
          <p:nvPr/>
        </p:nvSpPr>
        <p:spPr>
          <a:xfrm>
            <a:off x="3573104" y="38182677"/>
            <a:ext cx="57709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[Vorname Nachname]</a:t>
            </a:r>
          </a:p>
          <a:p>
            <a:r>
              <a:rPr lang="de-DE" sz="3200" dirty="0"/>
              <a:t>[</a:t>
            </a:r>
            <a:r>
              <a:rPr lang="de-DE" sz="3200" dirty="0" err="1"/>
              <a:t>Vorname.Nachname</a:t>
            </a:r>
            <a:r>
              <a:rPr lang="de-DE" sz="3200" dirty="0"/>
              <a:t>]@kit.edu</a:t>
            </a:r>
          </a:p>
          <a:p>
            <a:r>
              <a:rPr lang="de-DE" sz="3200" dirty="0"/>
              <a:t>[Telefon (optional)]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60398F0-CF01-4C4C-BFFD-16767E6E7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6908" y="10107426"/>
            <a:ext cx="6483276" cy="626678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BC2BB92-CCFD-4E5C-AA9B-6CCEB880F759}"/>
              </a:ext>
            </a:extLst>
          </p:cNvPr>
          <p:cNvSpPr txBox="1"/>
          <p:nvPr/>
        </p:nvSpPr>
        <p:spPr>
          <a:xfrm>
            <a:off x="21576908" y="16831482"/>
            <a:ext cx="6896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Abbildung 1</a:t>
            </a:r>
            <a:r>
              <a:rPr lang="de-DE" dirty="0"/>
              <a:t>: Stick Person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240DBD4-BEDB-436F-B5F8-FB53BB83EB65}"/>
              </a:ext>
            </a:extLst>
          </p:cNvPr>
          <p:cNvSpPr txBox="1"/>
          <p:nvPr/>
        </p:nvSpPr>
        <p:spPr>
          <a:xfrm>
            <a:off x="1806966" y="10918496"/>
            <a:ext cx="1872618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Absatzüberschrift</a:t>
            </a:r>
          </a:p>
          <a:p>
            <a:pPr algn="just"/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2E0035B-6840-4610-8A69-14B64A9ECEBA}"/>
              </a:ext>
            </a:extLst>
          </p:cNvPr>
          <p:cNvSpPr txBox="1"/>
          <p:nvPr/>
        </p:nvSpPr>
        <p:spPr>
          <a:xfrm>
            <a:off x="1806966" y="18841950"/>
            <a:ext cx="11710220" cy="1468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Absatzüberschrift</a:t>
            </a:r>
          </a:p>
          <a:p>
            <a:pPr algn="just"/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de-DE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Bulletpoint</a:t>
            </a:r>
            <a:r>
              <a:rPr kumimoji="0" lang="de-DE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de-DE" kern="0" dirty="0">
                <a:solidFill>
                  <a:srgbClr val="000000"/>
                </a:solidFill>
                <a:latin typeface="Arial"/>
              </a:rPr>
              <a:t>2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de-DE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de-DE" kern="0" dirty="0">
                <a:solidFill>
                  <a:srgbClr val="000000"/>
                </a:solidFill>
                <a:latin typeface="Arial"/>
              </a:rPr>
              <a:t>4</a:t>
            </a:r>
          </a:p>
          <a:p>
            <a:pPr marL="1066800" lvl="1" indent="-609600" defTabSz="4176713">
              <a:spcBef>
                <a:spcPct val="20000"/>
              </a:spcBef>
              <a:buBlip>
                <a:blip r:embed="rId3"/>
              </a:buBlip>
              <a:defRPr/>
            </a:pPr>
            <a:r>
              <a:rPr kumimoji="0" lang="de-DE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4.1</a:t>
            </a:r>
          </a:p>
          <a:p>
            <a:pPr marL="1066800" lvl="1" indent="-609600" defTabSz="4176713">
              <a:spcBef>
                <a:spcPct val="20000"/>
              </a:spcBef>
              <a:buBlip>
                <a:blip r:embed="rId3"/>
              </a:buBlip>
              <a:defRPr/>
            </a:pPr>
            <a:r>
              <a:rPr lang="de-DE" kern="0" dirty="0">
                <a:solidFill>
                  <a:srgbClr val="000000"/>
                </a:solidFill>
                <a:latin typeface="Arial"/>
              </a:rPr>
              <a:t>4.2</a:t>
            </a:r>
            <a:endParaRPr kumimoji="0" lang="de-DE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96F9FB5-6797-40D8-A711-5E4CE4DD6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1049" y="18565893"/>
            <a:ext cx="13187643" cy="5112655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C53E4B6E-F6DA-48AE-AC24-3EA553D02B98}"/>
              </a:ext>
            </a:extLst>
          </p:cNvPr>
          <p:cNvSpPr txBox="1"/>
          <p:nvPr/>
        </p:nvSpPr>
        <p:spPr>
          <a:xfrm>
            <a:off x="14680807" y="23674647"/>
            <a:ext cx="6896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Abbildung 2</a:t>
            </a:r>
            <a:r>
              <a:rPr lang="de-DE" dirty="0"/>
              <a:t>: C# </a:t>
            </a:r>
            <a:r>
              <a:rPr lang="de-DE" dirty="0" err="1"/>
              <a:t>Application</a:t>
            </a:r>
            <a:endParaRPr lang="de-DE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3E724C5-8AC1-4829-8824-FBAC1F96EB98}"/>
              </a:ext>
            </a:extLst>
          </p:cNvPr>
          <p:cNvCxnSpPr/>
          <p:nvPr/>
        </p:nvCxnSpPr>
        <p:spPr bwMode="auto">
          <a:xfrm>
            <a:off x="14078566" y="18619972"/>
            <a:ext cx="0" cy="1858360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3C8627B-E5AA-4CC5-A2B6-270A28BCA97B}"/>
              </a:ext>
            </a:extLst>
          </p:cNvPr>
          <p:cNvCxnSpPr/>
          <p:nvPr/>
        </p:nvCxnSpPr>
        <p:spPr bwMode="auto">
          <a:xfrm>
            <a:off x="1806966" y="18081522"/>
            <a:ext cx="2646323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87FD5EF-5EA1-49B9-8D59-EEE16F6CC70E}"/>
              </a:ext>
            </a:extLst>
          </p:cNvPr>
          <p:cNvCxnSpPr/>
          <p:nvPr/>
        </p:nvCxnSpPr>
        <p:spPr bwMode="auto">
          <a:xfrm>
            <a:off x="1908370" y="37905858"/>
            <a:ext cx="2646323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3" name="Grafik 32">
            <a:extLst>
              <a:ext uri="{FF2B5EF4-FFF2-40B4-BE49-F238E27FC236}">
                <a16:creationId xmlns:a16="http://schemas.microsoft.com/office/drawing/2014/main" id="{39AEA8E1-83E4-41EA-892E-926C44CE7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369" y="38182677"/>
            <a:ext cx="1283487" cy="1824275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A40DC36-8F05-480A-B828-C93FBFF4EFD0}"/>
              </a:ext>
            </a:extLst>
          </p:cNvPr>
          <p:cNvSpPr txBox="1"/>
          <p:nvPr/>
        </p:nvSpPr>
        <p:spPr>
          <a:xfrm>
            <a:off x="14785953" y="25483057"/>
            <a:ext cx="13581909" cy="1123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Absatzüberschrift</a:t>
            </a:r>
          </a:p>
          <a:p>
            <a:pPr algn="just"/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consetetur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sadipscing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elitr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nonumy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eirmod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invidunt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labore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magna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aliquyam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erat, sed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voluptua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eos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accusam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justo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rebum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Stet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clita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kasd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gubergren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takimata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sanctus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Lorem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dolor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amet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Fazit: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de-DE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Bulletpoint</a:t>
            </a:r>
            <a:r>
              <a:rPr kumimoji="0" lang="de-DE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de-DE" kern="0" dirty="0">
                <a:solidFill>
                  <a:srgbClr val="000000"/>
                </a:solidFill>
                <a:latin typeface="Arial"/>
              </a:rPr>
              <a:t>2</a:t>
            </a:r>
          </a:p>
          <a:p>
            <a:pPr marL="609600" marR="0" lvl="0" indent="-609600" algn="l" defTabSz="41767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de-DE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AB2B343-1B3C-447B-BDE0-E2CAFAE0F090}"/>
              </a:ext>
            </a:extLst>
          </p:cNvPr>
          <p:cNvSpPr/>
          <p:nvPr/>
        </p:nvSpPr>
        <p:spPr bwMode="auto">
          <a:xfrm>
            <a:off x="1908369" y="33773806"/>
            <a:ext cx="11757713" cy="3783696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3200" b="1" dirty="0">
                <a:solidFill>
                  <a:schemeClr val="tx1"/>
                </a:solidFill>
                <a:latin typeface="Arial" charset="0"/>
              </a:rPr>
              <a:t>Quellen:</a:t>
            </a:r>
          </a:p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[1] </a:t>
            </a:r>
          </a:p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3200" dirty="0">
                <a:solidFill>
                  <a:schemeClr val="tx1"/>
                </a:solidFill>
                <a:latin typeface="Arial" charset="0"/>
              </a:rPr>
              <a:t>[2]</a:t>
            </a:r>
          </a:p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[3]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T_W-Poster_A0_hoch_de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9682"/>
      </a:accent1>
      <a:accent2>
        <a:srgbClr val="4664AA"/>
      </a:accent2>
      <a:accent3>
        <a:srgbClr val="FFFFFF"/>
      </a:accent3>
      <a:accent4>
        <a:srgbClr val="000000"/>
      </a:accent4>
      <a:accent5>
        <a:srgbClr val="AAC9C1"/>
      </a:accent5>
      <a:accent6>
        <a:srgbClr val="3F5A9A"/>
      </a:accent6>
      <a:hlink>
        <a:srgbClr val="D9D9D9"/>
      </a:hlink>
      <a:folHlink>
        <a:srgbClr val="B3E0DA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9682"/>
        </a:accent1>
        <a:accent2>
          <a:srgbClr val="4664AA"/>
        </a:accent2>
        <a:accent3>
          <a:srgbClr val="FFFFFF"/>
        </a:accent3>
        <a:accent4>
          <a:srgbClr val="000000"/>
        </a:accent4>
        <a:accent5>
          <a:srgbClr val="AAC9C1"/>
        </a:accent5>
        <a:accent6>
          <a:srgbClr val="3F5A9A"/>
        </a:accent6>
        <a:hlink>
          <a:srgbClr val="D9D9D9"/>
        </a:hlink>
        <a:folHlink>
          <a:srgbClr val="B3E0D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KIT_W-Poster_A0_hoch_de</Template>
  <TotalTime>0</TotalTime>
  <Words>456</Words>
  <Application>Microsoft Office PowerPoint</Application>
  <PresentationFormat>Benutzerdefiniert</PresentationFormat>
  <Paragraphs>34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KIT_W-Poster_A0_hoch_de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Schoemperlen, Anke (PKM)</dc:creator>
  <cp:lastModifiedBy>Witucki, Linus (IRS)</cp:lastModifiedBy>
  <cp:revision>25</cp:revision>
  <dcterms:created xsi:type="dcterms:W3CDTF">2015-11-19T13:28:35Z</dcterms:created>
  <dcterms:modified xsi:type="dcterms:W3CDTF">2024-07-25T13:34:29Z</dcterms:modified>
</cp:coreProperties>
</file>